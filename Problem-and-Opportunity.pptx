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embeddedFontLst>
    <p:embeddedFont>
      <p:font typeface="Sora ExtraLight" pitchFamily="2" charset="0"/>
      <p:regular r:id="rId9"/>
    </p:embeddedFont>
    <p:embeddedFont>
      <p:font typeface="Sora Light" pitchFamily="2" charset="0"/>
      <p:regular r:id="rId1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2DF"/>
    <a:srgbClr val="FFF8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224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6688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BF2D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4E6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678458"/>
            <a:ext cx="1173450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9959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PROBLEM &amp; OPPORTUNITY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938113"/>
            <a:ext cx="11277318" cy="2011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4800" dirty="0">
                <a:solidFill>
                  <a:srgbClr val="2B241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Reliable light should be available before ownership becomes a burden.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189" y="3127474"/>
            <a:ext cx="1173450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B241C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For rural households and farm workers, lighting needs can appear suddenly and disappear just as quickly.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189" y="3535065"/>
            <a:ext cx="3555911" cy="1779687"/>
          </a:xfrm>
          <a:prstGeom prst="rect">
            <a:avLst/>
          </a:prstGeom>
          <a:solidFill>
            <a:srgbClr val="2B241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83" y="3763665"/>
            <a:ext cx="355591" cy="355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783" y="4224040"/>
            <a:ext cx="309872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Sudden need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85783" y="4588470"/>
            <a:ext cx="332731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Portable lighting is needed now.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317892" y="3535065"/>
            <a:ext cx="3555911" cy="1779687"/>
          </a:xfrm>
          <a:prstGeom prst="rect">
            <a:avLst/>
          </a:prstGeom>
          <a:solidFill>
            <a:srgbClr val="2B241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6486" y="3763665"/>
            <a:ext cx="355591" cy="355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46486" y="4224040"/>
            <a:ext cx="309872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Buying creates burden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4546486" y="4588470"/>
            <a:ext cx="309872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Occasional use still brings ownership and maintenance.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178595" y="3535065"/>
            <a:ext cx="3555911" cy="1779687"/>
          </a:xfrm>
          <a:prstGeom prst="rect">
            <a:avLst/>
          </a:prstGeom>
          <a:solidFill>
            <a:srgbClr val="2B241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7190" y="3763665"/>
            <a:ext cx="355591" cy="355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07190" y="4224040"/>
            <a:ext cx="309872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Rent from the kiosk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8407190" y="4588470"/>
            <a:ext cx="309872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Immediate access to reliable lighting without ownership.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457189" y="5473502"/>
            <a:ext cx="11277318" cy="706041"/>
          </a:xfrm>
          <a:prstGeom prst="rect">
            <a:avLst/>
          </a:prstGeom>
          <a:solidFill>
            <a:srgbClr val="F4E6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761981" y="5702102"/>
            <a:ext cx="10972526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Value proposition:</a:t>
            </a: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 “Reliable portable lighting when you need it, without having to purchase and maintain it.”</a:t>
            </a:r>
            <a:endParaRPr lang="en-US" sz="14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EE20FB-BE84-ECDE-F4E8-D3EB9C32D421}"/>
              </a:ext>
            </a:extLst>
          </p:cNvPr>
          <p:cNvSpPr/>
          <p:nvPr/>
        </p:nvSpPr>
        <p:spPr>
          <a:xfrm>
            <a:off x="11112137" y="6583680"/>
            <a:ext cx="1001486" cy="200297"/>
          </a:xfrm>
          <a:prstGeom prst="rect">
            <a:avLst/>
          </a:prstGeom>
          <a:solidFill>
            <a:srgbClr val="FFF8E9"/>
          </a:solidFill>
          <a:ln>
            <a:solidFill>
              <a:srgbClr val="FFF8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86B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TARGET CUSTOMER &amp; VALUE PROPOSITION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716855"/>
            <a:ext cx="11277318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2B241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Temporary need, simple access, easy return.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2496641"/>
            <a:ext cx="7132161" cy="4361359"/>
          </a:xfrm>
          <a:prstGeom prst="rect">
            <a:avLst/>
          </a:prstGeom>
          <a:solidFill>
            <a:srgbClr val="2B24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189" y="2953841"/>
            <a:ext cx="621778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Primary users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3360241"/>
            <a:ext cx="444489" cy="444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189" y="3909516"/>
            <a:ext cx="303264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Rural households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457189" y="4273947"/>
            <a:ext cx="303264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Temporary needs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2229" y="3360241"/>
            <a:ext cx="444489" cy="4445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42229" y="3909516"/>
            <a:ext cx="303274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Farm workers</a:t>
            </a:r>
            <a:endParaRPr lang="en-US" sz="17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89" y="4675088"/>
            <a:ext cx="444489" cy="4445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57189" y="5224363"/>
            <a:ext cx="303264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Outage-affected users</a:t>
            </a:r>
            <a:endParaRPr lang="en-US" sz="17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2229" y="4675088"/>
            <a:ext cx="444489" cy="4445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642229" y="5224363"/>
            <a:ext cx="303274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People with failed lanterns</a:t>
            </a:r>
            <a:endParaRPr lang="en-US" sz="17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189" y="5614095"/>
            <a:ext cx="444489" cy="4445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57189" y="6163370"/>
            <a:ext cx="621778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Temporary/event users</a:t>
            </a:r>
            <a:endParaRPr lang="en-US" sz="1700" dirty="0"/>
          </a:p>
        </p:txBody>
      </p:sp>
      <p:sp>
        <p:nvSpPr>
          <p:cNvPr id="17" name="Shape 10"/>
          <p:cNvSpPr/>
          <p:nvPr/>
        </p:nvSpPr>
        <p:spPr>
          <a:xfrm>
            <a:off x="7436855" y="2496641"/>
            <a:ext cx="4754840" cy="4361359"/>
          </a:xfrm>
          <a:prstGeom prst="rect">
            <a:avLst/>
          </a:prstGeom>
          <a:solidFill>
            <a:srgbClr val="F4E6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1"/>
          <p:cNvSpPr/>
          <p:nvPr/>
        </p:nvSpPr>
        <p:spPr>
          <a:xfrm>
            <a:off x="7894043" y="2953841"/>
            <a:ext cx="3840463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Customer value flow</a:t>
            </a:r>
            <a:endParaRPr lang="en-US" sz="2000" dirty="0"/>
          </a:p>
        </p:txBody>
      </p:sp>
      <p:sp>
        <p:nvSpPr>
          <p:cNvPr id="19" name="Text 12"/>
          <p:cNvSpPr/>
          <p:nvPr/>
        </p:nvSpPr>
        <p:spPr>
          <a:xfrm>
            <a:off x="7894043" y="3360241"/>
            <a:ext cx="4297652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NEED → ACCESS → USE → RETURN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7894043" y="3812282"/>
            <a:ext cx="1267190" cy="19050"/>
          </a:xfrm>
          <a:prstGeom prst="roundRect">
            <a:avLst>
              <a:gd name="adj" fmla="val 49999"/>
            </a:avLst>
          </a:prstGeom>
          <a:solidFill>
            <a:srgbClr val="B86B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4"/>
          <p:cNvSpPr/>
          <p:nvPr/>
        </p:nvSpPr>
        <p:spPr>
          <a:xfrm>
            <a:off x="7894043" y="4034532"/>
            <a:ext cx="3840463" cy="1900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Benefits:</a:t>
            </a: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 low upfront cost · reliable charged lantern · no ownership or maintenance burden · easy return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Frequent users who need lanterns several times every week are not the main target; frequent rental can become less attractive than buying.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2B241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Customer Journey &amp; Product-as-a-Service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2019300"/>
            <a:ext cx="4381390" cy="4381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579826" y="1562100"/>
            <a:ext cx="3611869" cy="5295900"/>
          </a:xfrm>
          <a:prstGeom prst="rect">
            <a:avLst/>
          </a:prstGeom>
          <a:solidFill>
            <a:srgbClr val="F4E6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808420" y="3104356"/>
            <a:ext cx="338327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PAAS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8808420" y="3364012"/>
            <a:ext cx="315468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Access over ownership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808420" y="3770412"/>
            <a:ext cx="3154680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The kiosk owns the physical lanterns. Customers pay for temporary access as a service.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808420" y="4720134"/>
            <a:ext cx="1040977" cy="19050"/>
          </a:xfrm>
          <a:prstGeom prst="roundRect">
            <a:avLst>
              <a:gd name="adj" fmla="val 49999"/>
            </a:avLst>
          </a:prstGeom>
          <a:solidFill>
            <a:srgbClr val="B86B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808420" y="4942384"/>
            <a:ext cx="3154680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₹300 deposit is refundable. ₹30/day is the rental.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86B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BUSINESS MODEL &amp; OPERATING FLOW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716855"/>
            <a:ext cx="11277318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2B241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Nine connected blocks make the kiosk operational.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189" y="1341636"/>
            <a:ext cx="375910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966203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CUSTOMER SEGMENTS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189" y="1601291"/>
            <a:ext cx="3530512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2B241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Emergency and occasional rural users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57189" y="3385245"/>
            <a:ext cx="375910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966203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VALUE PROPOSITION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189" y="3644900"/>
            <a:ext cx="3530512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2B241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Reliable lighting without ownership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189" y="5428853"/>
            <a:ext cx="375910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966203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CHANNELS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189" y="5688509"/>
            <a:ext cx="3530512" cy="712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2B241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Community kiosk · local shops · WhatsApp/community communication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444889" y="1341636"/>
            <a:ext cx="353051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966203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RELATIONSHIPS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444889" y="1601291"/>
            <a:ext cx="3301917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2B241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Simple rental · repeat-user and loyalty benefits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44889" y="3622675"/>
            <a:ext cx="353051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966203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REVENUE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44889" y="3882330"/>
            <a:ext cx="330191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B86B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₹30</a:t>
            </a:r>
            <a:r>
              <a:rPr lang="en-US" sz="1700" dirty="0">
                <a:solidFill>
                  <a:srgbClr val="2B241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per rental day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444889" y="5666284"/>
            <a:ext cx="353051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966203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RESOURCES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444889" y="5925939"/>
            <a:ext cx="3301917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2B241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20 lanterns · charging setup · kiosk · rental records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03995" y="1341636"/>
            <a:ext cx="353051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966203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ACTIVITIES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03995" y="1601291"/>
            <a:ext cx="353051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2B241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Rent · charge · inspect · maintain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03995" y="3147814"/>
            <a:ext cx="353051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966203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PARTNERS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03995" y="3407470"/>
            <a:ext cx="3530512" cy="474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2B241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Suppliers and local community partners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03995" y="5191423"/>
            <a:ext cx="3530512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966203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COSTS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03995" y="5451078"/>
            <a:ext cx="3530512" cy="949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2B241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Lanterns · maintenance · charging/electricity · kiosk/staffing · loss/damage provision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209945" y="1341636"/>
            <a:ext cx="12700" cy="5059164"/>
          </a:xfrm>
          <a:prstGeom prst="rect">
            <a:avLst/>
          </a:prstGeom>
          <a:solidFill>
            <a:srgbClr val="B86B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969051" y="1341636"/>
            <a:ext cx="12700" cy="5059164"/>
          </a:xfrm>
          <a:prstGeom prst="rect">
            <a:avLst/>
          </a:prstGeom>
          <a:solidFill>
            <a:srgbClr val="B86B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4319129-299C-F02A-82C2-8508504C37A4}"/>
              </a:ext>
            </a:extLst>
          </p:cNvPr>
          <p:cNvSpPr/>
          <p:nvPr/>
        </p:nvSpPr>
        <p:spPr>
          <a:xfrm>
            <a:off x="11112137" y="6583680"/>
            <a:ext cx="1001486" cy="200297"/>
          </a:xfrm>
          <a:prstGeom prst="rect">
            <a:avLst/>
          </a:prstGeom>
          <a:solidFill>
            <a:srgbClr val="FBF2DF"/>
          </a:solidFill>
          <a:ln>
            <a:solidFill>
              <a:srgbClr val="FBF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277318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2B241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Financial Snapshot, SWOT &amp; Risk Control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189" y="1081980"/>
            <a:ext cx="658349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B86B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Monthly rental revenue by rental days per lantern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1373386"/>
            <a:ext cx="4063898" cy="20970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189" y="3575248"/>
            <a:ext cx="3215500" cy="1767681"/>
          </a:xfrm>
          <a:prstGeom prst="rect">
            <a:avLst/>
          </a:prstGeom>
          <a:solidFill>
            <a:srgbClr val="F4E6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85783" y="3803848"/>
            <a:ext cx="2758311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000" dirty="0">
                <a:solidFill>
                  <a:srgbClr val="4D2C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₹18,000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685783" y="4616648"/>
            <a:ext cx="275831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Initial investment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20 × ₹900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825085" y="3575248"/>
            <a:ext cx="3215599" cy="1767681"/>
          </a:xfrm>
          <a:prstGeom prst="rect">
            <a:avLst/>
          </a:prstGeom>
          <a:solidFill>
            <a:srgbClr val="F4E6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053679" y="3803848"/>
            <a:ext cx="2758411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000" dirty="0">
                <a:solidFill>
                  <a:srgbClr val="4D2C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₹2,000</a:t>
            </a:r>
            <a:endParaRPr lang="en-US" sz="5000" dirty="0"/>
          </a:p>
        </p:txBody>
      </p:sp>
      <p:sp>
        <p:nvSpPr>
          <p:cNvPr id="10" name="Text 7"/>
          <p:cNvSpPr/>
          <p:nvPr/>
        </p:nvSpPr>
        <p:spPr>
          <a:xfrm>
            <a:off x="4053679" y="4616648"/>
            <a:ext cx="275841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Annual maintenance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20 × ₹100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189" y="5447705"/>
            <a:ext cx="658349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B86B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₹300 deposits are refundable and are not revenue.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7345377" y="1081980"/>
            <a:ext cx="438912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86B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SWOT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345377" y="1373386"/>
            <a:ext cx="4389129" cy="2056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B241C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Strengths:</a:t>
            </a:r>
            <a:r>
              <a:rPr lang="en-US" sz="1400" dirty="0">
                <a:solidFill>
                  <a:srgbClr val="2B241C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 Affordable access and reusable inventory</a:t>
            </a:r>
            <a:endParaRPr lang="en-US" sz="1400" dirty="0"/>
          </a:p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B241C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Weaknesses:</a:t>
            </a:r>
            <a:r>
              <a:rPr lang="en-US" sz="1400" dirty="0">
                <a:solidFill>
                  <a:srgbClr val="2B241C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 Limited inventory and charging needs</a:t>
            </a:r>
            <a:endParaRPr lang="en-US" sz="1400" dirty="0"/>
          </a:p>
          <a:p>
            <a:pPr marL="0" indent="0" algn="l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B241C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Opportunities:</a:t>
            </a:r>
            <a:r>
              <a:rPr lang="en-US" sz="1400" dirty="0">
                <a:solidFill>
                  <a:srgbClr val="2B241C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 More kiosks and partnerships</a:t>
            </a:r>
            <a:endParaRPr lang="en-US" sz="14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2B241C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Threats:</a:t>
            </a:r>
            <a:r>
              <a:rPr lang="en-US" sz="1400" dirty="0">
                <a:solidFill>
                  <a:srgbClr val="2B241C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 Theft, damage, low utilization and cheap alternatives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345377" y="3534370"/>
            <a:ext cx="4389129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86B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RISK CONTROL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7345377" y="3825776"/>
            <a:ext cx="4389129" cy="171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2B241C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Deposit + ID/phone verification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2B241C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Inspection and damage policy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2B241C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Late fee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2B241C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Small pilot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2B241C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Solar + grid charging</a:t>
            </a:r>
            <a:endParaRPr lang="en-US" sz="1400" dirty="0"/>
          </a:p>
          <a:p>
            <a:pPr marL="284480" indent="-284480" algn="l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2B241C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Backup lanterns</a:t>
            </a:r>
            <a:endParaRPr lang="en-US" sz="1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EB59B7E-1894-3AC6-4B68-72B2591EEB45}"/>
              </a:ext>
            </a:extLst>
          </p:cNvPr>
          <p:cNvSpPr/>
          <p:nvPr/>
        </p:nvSpPr>
        <p:spPr>
          <a:xfrm>
            <a:off x="11103134" y="6571947"/>
            <a:ext cx="1001486" cy="200297"/>
          </a:xfrm>
          <a:prstGeom prst="rect">
            <a:avLst/>
          </a:prstGeom>
          <a:solidFill>
            <a:srgbClr val="FBF2DF"/>
          </a:solidFill>
          <a:ln>
            <a:solidFill>
              <a:srgbClr val="FBF2D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57200"/>
            <a:ext cx="1173450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4D2C00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90-DAY PILOT → MEASURE → SCALE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57189" y="716855"/>
            <a:ext cx="11277318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2B241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90-Day Pilot → Measure → Scale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0" y="1925737"/>
            <a:ext cx="5943451" cy="3521869"/>
          </a:xfrm>
          <a:prstGeom prst="rect">
            <a:avLst/>
          </a:prstGeom>
          <a:solidFill>
            <a:srgbClr val="FFF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189" y="2382937"/>
            <a:ext cx="502907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2B241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Days 1–30 | Launch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189" y="2789337"/>
            <a:ext cx="5029074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B241C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Acquire 20 lanterns; set up kiosk and charging; define deposit, rental, return and damage policies; start with local emergency and occasional users.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189" y="3837484"/>
            <a:ext cx="502907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2B241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Days 31–60 | Test &amp; improve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189" y="4243884"/>
            <a:ext cx="5029074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B241C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Track rental frequency and utilization; monitor returns, damage and charging issues; collect feedback; improve the process.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48244" y="1925737"/>
            <a:ext cx="5943451" cy="3521869"/>
          </a:xfrm>
          <a:prstGeom prst="rect">
            <a:avLst/>
          </a:prstGeom>
          <a:solidFill>
            <a:srgbClr val="FFF8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05432" y="2382937"/>
            <a:ext cx="502907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2B241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Days 61–90 | Evaluate &amp; scale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705432" y="2789337"/>
            <a:ext cx="5029074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B241C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Measure utilization and repeat usage; review losses, maintenance and operating contribution; identify peak demand; expand only if demand justifies it.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05432" y="3837484"/>
            <a:ext cx="502907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700" dirty="0">
                <a:solidFill>
                  <a:srgbClr val="2B241C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Success measures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705432" y="4201914"/>
            <a:ext cx="502907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2B241C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Utilization</a:t>
            </a:r>
            <a:r>
              <a:rPr lang="en-US" sz="1400" dirty="0">
                <a:solidFill>
                  <a:srgbClr val="2B241C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 | </a:t>
            </a:r>
            <a:r>
              <a:rPr lang="en-US" sz="1400" b="1" dirty="0">
                <a:solidFill>
                  <a:srgbClr val="2B241C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Repeat usage</a:t>
            </a:r>
            <a:r>
              <a:rPr lang="en-US" sz="1400" dirty="0">
                <a:solidFill>
                  <a:srgbClr val="2B241C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 | </a:t>
            </a:r>
            <a:r>
              <a:rPr lang="en-US" sz="1400" b="1" dirty="0">
                <a:solidFill>
                  <a:srgbClr val="2B241C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Low loss/damage</a:t>
            </a:r>
            <a:r>
              <a:rPr lang="en-US" sz="1400" dirty="0">
                <a:solidFill>
                  <a:srgbClr val="2B241C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 | </a:t>
            </a:r>
            <a:r>
              <a:rPr lang="en-US" sz="1400" b="1" dirty="0">
                <a:solidFill>
                  <a:srgbClr val="2B241C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Reliable returns</a:t>
            </a:r>
            <a:r>
              <a:rPr lang="en-US" sz="1400" dirty="0">
                <a:solidFill>
                  <a:srgbClr val="2B241C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 | </a:t>
            </a:r>
            <a:r>
              <a:rPr lang="en-US" sz="1400" b="1" dirty="0">
                <a:solidFill>
                  <a:srgbClr val="2B241C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Positive operating contribution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0" y="5752306"/>
            <a:ext cx="12191695" cy="1105694"/>
          </a:xfrm>
          <a:prstGeom prst="rect">
            <a:avLst/>
          </a:prstGeom>
          <a:solidFill>
            <a:srgbClr val="B86B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189" y="6209506"/>
            <a:ext cx="11734506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Sora ExtraLight" pitchFamily="34" charset="0"/>
                <a:ea typeface="Sora ExtraLight" pitchFamily="34" charset="-122"/>
                <a:cs typeface="Sora ExtraLight" pitchFamily="34" charset="-120"/>
              </a:rPr>
              <a:t>Yatharth Dharmesh Mishra · Roll No. 150096725055 · ITM Skills University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531</Words>
  <Application>Microsoft Macintosh PowerPoint</Application>
  <PresentationFormat>Widescreen</PresentationFormat>
  <Paragraphs>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Sora Bold</vt:lpstr>
      <vt:lpstr>Sora Light</vt:lpstr>
      <vt:lpstr>Sora ExtraLight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Yatharth Mishra</cp:lastModifiedBy>
  <cp:revision>2</cp:revision>
  <dcterms:created xsi:type="dcterms:W3CDTF">2026-10-04T17:48:10Z</dcterms:created>
  <dcterms:modified xsi:type="dcterms:W3CDTF">2026-10-04T17:51:46Z</dcterms:modified>
</cp:coreProperties>
</file>